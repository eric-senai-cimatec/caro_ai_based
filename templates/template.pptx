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334" r:id="rId5"/>
    <p:sldId id="375" r:id="rId6"/>
    <p:sldId id="277" r:id="rId7"/>
    <p:sldId id="377" r:id="rId8"/>
    <p:sldId id="284" r:id="rId9"/>
    <p:sldId id="378" r:id="rId10"/>
    <p:sldId id="379" r:id="rId11"/>
    <p:sldId id="380" r:id="rId12"/>
    <p:sldId id="283" r:id="rId13"/>
    <p:sldId id="281" r:id="rId14"/>
    <p:sldId id="289" r:id="rId15"/>
    <p:sldId id="343" r:id="rId16"/>
    <p:sldId id="344" r:id="rId17"/>
    <p:sldId id="357" r:id="rId18"/>
    <p:sldId id="349" r:id="rId19"/>
    <p:sldId id="381" r:id="rId20"/>
    <p:sldId id="351" r:id="rId21"/>
    <p:sldId id="352" r:id="rId22"/>
    <p:sldId id="376" r:id="rId23"/>
    <p:sldId id="382" r:id="rId24"/>
    <p:sldId id="361" r:id="rId25"/>
    <p:sldId id="356" r:id="rId26"/>
    <p:sldId id="304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LTER Estevão BEAL" initials="VEB" lastIdx="2" clrIdx="0">
    <p:extLst>
      <p:ext uri="{19B8F6BF-5375-455C-9EA6-DF929625EA0E}">
        <p15:presenceInfo xmlns:p15="http://schemas.microsoft.com/office/powerpoint/2012/main" userId="S-1-5-21-4227737136-4196000695-2862736013-66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AEB"/>
    <a:srgbClr val="004560"/>
    <a:srgbClr val="CD0B10"/>
    <a:srgbClr val="D01E37"/>
    <a:srgbClr val="003245"/>
    <a:srgbClr val="DA2038"/>
    <a:srgbClr val="154D66"/>
    <a:srgbClr val="05609E"/>
    <a:srgbClr val="0029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BCB5B-E2BF-121C-0213-E0AA68D3C6A6}" v="32" dt="2026-06-30T12:54:38.4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64FA7-4842-4D24-BB63-7B8BA6156CE6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C2A32-1B1F-4B1F-9B99-D46FF81D95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803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49B35-05DE-43CA-ACFB-0E52B6F618FF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09843-7A7E-4B03-9E75-3EA1E394014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781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09843-7A7E-4B03-9E75-3EA1E39401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34FAB-23A8-4C74-ED63-78CBF092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6C05B53-6A4D-FABE-7EFC-EC253FB76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A2394D-6365-A7EA-674F-A3E937892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5EA5F2-6968-49A2-8850-51A6F92B4F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09843-7A7E-4B03-9E75-3EA1E39401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85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09843-7A7E-4B03-9E75-3EA1E39401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64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09843-7A7E-4B03-9E75-3EA1E39401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4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829F-DC94-71D4-8166-D11C28344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9904F24-6087-5804-BE10-4015B4B4A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4C4D859-99FC-E16C-BDBF-D5BDAD9A8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283D16-2D06-26C4-C862-F0FCFC340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209843-7A7E-4B03-9E75-3EA1E394014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6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72266"/>
          </a:xfrm>
          <a:prstGeom prst="rect">
            <a:avLst/>
          </a:prstGeom>
          <a:effectLst/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59732" y="1063646"/>
            <a:ext cx="11085578" cy="2387600"/>
          </a:xfrm>
        </p:spPr>
        <p:txBody>
          <a:bodyPr anchor="b">
            <a:normAutofit/>
          </a:bodyPr>
          <a:lstStyle>
            <a:lvl1pPr algn="l">
              <a:defRPr lang="pt-BR" sz="6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59732" y="3644525"/>
            <a:ext cx="11085578" cy="946092"/>
          </a:xfrm>
        </p:spPr>
        <p:txBody>
          <a:bodyPr>
            <a:normAutofit/>
          </a:bodyPr>
          <a:lstStyle>
            <a:lvl1pPr marL="0" indent="0" algn="l">
              <a:buNone/>
              <a:defRPr lang="pt-BR" sz="5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8" name="Paralelogramo 7"/>
          <p:cNvSpPr/>
          <p:nvPr userDrawn="1"/>
        </p:nvSpPr>
        <p:spPr>
          <a:xfrm>
            <a:off x="659732" y="4783896"/>
            <a:ext cx="964531" cy="108553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0"/>
          </p:nvPr>
        </p:nvSpPr>
        <p:spPr>
          <a:xfrm>
            <a:off x="659732" y="5240338"/>
            <a:ext cx="7874000" cy="666750"/>
          </a:xfrm>
        </p:spPr>
        <p:txBody>
          <a:bodyPr>
            <a:noAutofit/>
          </a:bodyPr>
          <a:lstStyle>
            <a:lvl1pPr marL="0" indent="0">
              <a:buNone/>
              <a:def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Clique para editar o texto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1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72266"/>
          </a:xfrm>
          <a:prstGeom prst="rect">
            <a:avLst/>
          </a:prstGeom>
          <a:effectLst/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59732" y="1063646"/>
            <a:ext cx="11085578" cy="2387600"/>
          </a:xfrm>
        </p:spPr>
        <p:txBody>
          <a:bodyPr anchor="b">
            <a:normAutofit/>
          </a:bodyPr>
          <a:lstStyle>
            <a:lvl1pPr algn="l">
              <a:defRPr lang="pt-BR" sz="6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59732" y="3644525"/>
            <a:ext cx="11085578" cy="946092"/>
          </a:xfrm>
        </p:spPr>
        <p:txBody>
          <a:bodyPr>
            <a:normAutofit/>
          </a:bodyPr>
          <a:lstStyle>
            <a:lvl1pPr marL="0" indent="0" algn="l">
              <a:buNone/>
              <a:defRPr lang="pt-BR" sz="5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8" name="Paralelogramo 7"/>
          <p:cNvSpPr/>
          <p:nvPr userDrawn="1"/>
        </p:nvSpPr>
        <p:spPr>
          <a:xfrm>
            <a:off x="659732" y="4783896"/>
            <a:ext cx="964531" cy="108553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0"/>
          </p:nvPr>
        </p:nvSpPr>
        <p:spPr>
          <a:xfrm>
            <a:off x="659732" y="5240338"/>
            <a:ext cx="7874000" cy="666750"/>
          </a:xfrm>
        </p:spPr>
        <p:txBody>
          <a:bodyPr>
            <a:noAutofit/>
          </a:bodyPr>
          <a:lstStyle>
            <a:lvl1pPr marL="0" indent="0">
              <a:buNone/>
              <a:defRPr lang="en-US" sz="3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pt-BR"/>
              <a:t>Clique para editar o texto mestre</a:t>
            </a:r>
            <a:endParaRPr lang="en-US"/>
          </a:p>
        </p:txBody>
      </p:sp>
      <p:sp>
        <p:nvSpPr>
          <p:cNvPr id="4" name="Retângulo 3"/>
          <p:cNvSpPr/>
          <p:nvPr userDrawn="1"/>
        </p:nvSpPr>
        <p:spPr>
          <a:xfrm>
            <a:off x="6657088" y="6488668"/>
            <a:ext cx="5534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i="1" err="1">
                <a:solidFill>
                  <a:srgbClr val="FFFF00"/>
                </a:solidFill>
              </a:rPr>
              <a:t>Informação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err="1">
                <a:solidFill>
                  <a:srgbClr val="FFFF00"/>
                </a:solidFill>
              </a:rPr>
              <a:t>Interna</a:t>
            </a:r>
            <a:r>
              <a:rPr lang="en-US" i="1">
                <a:solidFill>
                  <a:srgbClr val="FFFF00"/>
                </a:solidFill>
              </a:rPr>
              <a:t>!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Excluir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ao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enviar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ao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cliente</a:t>
            </a:r>
            <a:r>
              <a:rPr lang="en-US" i="1" baseline="0">
                <a:solidFill>
                  <a:srgbClr val="FFFF00"/>
                </a:solidFill>
              </a:rPr>
              <a:t>/</a:t>
            </a:r>
            <a:r>
              <a:rPr lang="en-US" i="1" baseline="0" err="1">
                <a:solidFill>
                  <a:srgbClr val="FFFF00"/>
                </a:solidFill>
              </a:rPr>
              <a:t>parceiro</a:t>
            </a:r>
            <a:r>
              <a:rPr lang="en-US" i="1" baseline="0">
                <a:solidFill>
                  <a:srgbClr val="FFFF00"/>
                </a:solidFill>
              </a:rPr>
              <a:t>!</a:t>
            </a:r>
            <a:endParaRPr lang="pt-BR" i="1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2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33568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0" y="1093862"/>
            <a:ext cx="12192000" cy="5764138"/>
          </a:xfrm>
          <a:prstGeom prst="rect">
            <a:avLst/>
          </a:prstGeom>
          <a:solidFill>
            <a:srgbClr val="FFFA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12192000" cy="109386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  <a:p>
            <a:pPr algn="r"/>
            <a:endParaRPr lang="en-US"/>
          </a:p>
          <a:p>
            <a:pPr algn="r"/>
            <a:endParaRPr lang="en-US"/>
          </a:p>
          <a:p>
            <a:pPr algn="r"/>
            <a:r>
              <a:rPr lang="en-US" i="1" err="1">
                <a:solidFill>
                  <a:srgbClr val="FFFF00"/>
                </a:solidFill>
              </a:rPr>
              <a:t>Informação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err="1">
                <a:solidFill>
                  <a:srgbClr val="FFFF00"/>
                </a:solidFill>
              </a:rPr>
              <a:t>Interna</a:t>
            </a:r>
            <a:r>
              <a:rPr lang="en-US" i="1">
                <a:solidFill>
                  <a:srgbClr val="FFFF00"/>
                </a:solidFill>
              </a:rPr>
              <a:t>!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Excluir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ao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enviar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ao</a:t>
            </a:r>
            <a:r>
              <a:rPr lang="en-US" i="1" baseline="0">
                <a:solidFill>
                  <a:srgbClr val="FFFF00"/>
                </a:solidFill>
              </a:rPr>
              <a:t> </a:t>
            </a:r>
            <a:r>
              <a:rPr lang="en-US" i="1" baseline="0" err="1">
                <a:solidFill>
                  <a:srgbClr val="FFFF00"/>
                </a:solidFill>
              </a:rPr>
              <a:t>cliente</a:t>
            </a:r>
            <a:r>
              <a:rPr lang="en-US" i="1" baseline="0">
                <a:solidFill>
                  <a:srgbClr val="FFFF00"/>
                </a:solidFill>
              </a:rPr>
              <a:t>/</a:t>
            </a:r>
            <a:r>
              <a:rPr lang="en-US" i="1" baseline="0" err="1">
                <a:solidFill>
                  <a:srgbClr val="FFFF00"/>
                </a:solidFill>
              </a:rPr>
              <a:t>parceiro</a:t>
            </a:r>
            <a:r>
              <a:rPr lang="en-US" i="1" baseline="0">
                <a:solidFill>
                  <a:srgbClr val="FFFF00"/>
                </a:solidFill>
              </a:rPr>
              <a:t>!</a:t>
            </a:r>
            <a:endParaRPr lang="pt-BR" i="1">
              <a:solidFill>
                <a:srgbClr val="FFFF00"/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797016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1011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93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86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814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97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264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748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7581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D1DFE7B-2CBB-49B0-B72D-5A2CAE17F429}" type="datetimeFigureOut">
              <a:rPr lang="pt-BR" smtClean="0"/>
              <a:t>30/06/2026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55D9B60-ECBA-4EC2-BAE6-CF81F7EA56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2804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911424" y="620691"/>
            <a:ext cx="10273141" cy="2376263"/>
          </a:xfrm>
        </p:spPr>
        <p:txBody>
          <a:bodyPr/>
          <a:lstStyle>
            <a:lvl1pPr algn="r">
              <a:defRPr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11424" y="3501010"/>
            <a:ext cx="7008779" cy="1872209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1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pic>
        <p:nvPicPr>
          <p:cNvPr id="16" name="Picture 4" descr="https://www.doity.com.br/media/doity/eventos/evento-6287-logo_organizador.pn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10680" y="332445"/>
            <a:ext cx="1545961" cy="47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9751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21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 userDrawn="1"/>
        </p:nvSpPr>
        <p:spPr>
          <a:xfrm>
            <a:off x="0" y="0"/>
            <a:ext cx="12192000" cy="1093226"/>
          </a:xfrm>
          <a:prstGeom prst="rect">
            <a:avLst/>
          </a:prstGeom>
          <a:solidFill>
            <a:srgbClr val="0045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Paralelogramo 7"/>
          <p:cNvSpPr/>
          <p:nvPr userDrawn="1"/>
        </p:nvSpPr>
        <p:spPr>
          <a:xfrm>
            <a:off x="541421" y="767582"/>
            <a:ext cx="925638" cy="45719"/>
          </a:xfrm>
          <a:prstGeom prst="parallelogram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541421" y="0"/>
            <a:ext cx="11200636" cy="813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421" y="1335314"/>
            <a:ext cx="11200636" cy="4508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11" name="Conector reto 10"/>
          <p:cNvCxnSpPr/>
          <p:nvPr userDrawn="1"/>
        </p:nvCxnSpPr>
        <p:spPr>
          <a:xfrm>
            <a:off x="96253" y="6100012"/>
            <a:ext cx="1193929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445" y="6238559"/>
            <a:ext cx="2344612" cy="51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8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2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2800" b="1" kern="1200" dirty="0">
          <a:solidFill>
            <a:schemeClr val="bg1"/>
          </a:solidFill>
          <a:latin typeface="+mj-lt"/>
          <a:ea typeface="ＭＳ Ｐゴシック" charset="-128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ítulo 6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t-BR" b="1" dirty="0">
              <a:ea typeface="Calibri Light"/>
              <a:cs typeface="Calibri Light"/>
            </a:endParaRPr>
          </a:p>
          <a:p>
            <a:endParaRPr lang="en-US"/>
          </a:p>
        </p:txBody>
      </p:sp>
      <p:sp>
        <p:nvSpPr>
          <p:cNvPr id="14" name="Espaço Reservado para Conteúdo 13"/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Setembro de 2025</a:t>
            </a:r>
            <a:endParaRPr lang="en-US"/>
          </a:p>
        </p:txBody>
      </p:sp>
      <p:pic>
        <p:nvPicPr>
          <p:cNvPr id="8" name="Imagem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42" y="5907088"/>
            <a:ext cx="855980" cy="855980"/>
          </a:xfrm>
          <a:prstGeom prst="rect">
            <a:avLst/>
          </a:prstGeom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030A50FB-3CF6-12A6-D638-3B19CCC175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723" y="5794354"/>
            <a:ext cx="2765370" cy="866712"/>
          </a:xfrm>
          <a:prstGeom prst="rect">
            <a:avLst/>
          </a:prstGeom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A8EE544-BD10-56B4-005F-90F2A7FCFB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400">
                <a:latin typeface="Calibri Light"/>
                <a:ea typeface="Calibri Light"/>
                <a:cs typeface="Calibri Light"/>
              </a:rPr>
              <a:t>Comitê de Orçamentação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3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B7A5-778A-BD6C-C33F-B6FCFA7E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5D746F5C-1F58-EF56-D75A-1F15F7A952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/>
              <a:t>Projeto:</a:t>
            </a:r>
            <a:endParaRPr lang="pt-BR">
              <a:ea typeface="Calibri"/>
              <a:cs typeface="Calibri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5AFE3C38-AF3F-C807-C0BA-A850ABA661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/>
              <a:t>Proposta Preliminar</a:t>
            </a:r>
            <a:endParaRPr lang="pt-BR" b="1" i="1"/>
          </a:p>
          <a:p>
            <a:endParaRPr lang="en-US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EE535105-61E3-CBBF-5F74-62FED2F9C71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Setembro de 2025</a:t>
            </a:r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3D2544F-2754-7843-145D-A537D6ABB2C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42" y="5907088"/>
            <a:ext cx="855980" cy="855980"/>
          </a:xfrm>
          <a:prstGeom prst="rect">
            <a:avLst/>
          </a:prstGeom>
        </p:spPr>
      </p:pic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093E19F5-C614-D309-A801-90DF60C379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723" y="5794354"/>
            <a:ext cx="2765370" cy="8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34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Informação</a:t>
            </a:r>
            <a:endParaRPr lang="pt-BR"/>
          </a:p>
        </p:txBody>
      </p:sp>
      <p:pic>
        <p:nvPicPr>
          <p:cNvPr id="8" name="Imagem 7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10" name="Agrupar 9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1" name="Retângulo 10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5E78DDF-AA57-2D47-F456-E8F82832007A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F8BF6F6-0DE4-DCDB-31C7-1A30C28E9C1D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C0EFC0AE-3ACD-CD48-C9B9-EDB00AD02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1E6EE6D3-E63C-0BBC-B1A9-9C9ACC0B3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858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A35B-3ABF-D1D7-DBC6-5FD951B68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96024-ADBD-3328-852A-402E2068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Dados do Demandante</a:t>
            </a:r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1379DF1-0C39-D4E6-77DA-0C0CF9A929D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10" name="Agrupar 9">
            <a:extLst>
              <a:ext uri="{FF2B5EF4-FFF2-40B4-BE49-F238E27FC236}">
                <a16:creationId xmlns:a16="http://schemas.microsoft.com/office/drawing/2014/main" id="{D015E10C-1EEA-B087-6C1A-33EBA998D8C4}"/>
              </a:ext>
            </a:extLst>
          </p:cNvPr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5128DFA-BD6C-C553-286B-C0BE588618CA}"/>
                </a:ext>
              </a:extLst>
            </p:cNvPr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B9A61A51-D037-8F1D-74CF-59634DFE3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689D492-41D0-146A-33DF-E4D22540D09D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B01F6D6C-C01C-FC8C-0C9A-09C53509A125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78D849BF-CD82-A0EE-BCBF-038167E82B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47CB5A1-FC5D-285B-30DF-4351E8563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1727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Organização interna no atendimento da proposta</a:t>
            </a:r>
          </a:p>
        </p:txBody>
      </p:sp>
      <p:pic>
        <p:nvPicPr>
          <p:cNvPr id="4" name="Imagem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12" name="Agrupar 11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3" name="Retângulo 12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4" name="Imagem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2C247CAF-EF03-5648-19AD-36F6A96D8175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C281D9E7-1FE8-F3A5-7C66-B4C849127D69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E5EFA558-C4E0-A680-6A9B-1550836FA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A0D22C56-87E6-5E0E-BA04-53A1A62A8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014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97419-6E02-FFD8-CDDB-EA2CB2D26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7A4CE-ACCA-15BD-F8EE-AB8DAE79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Problema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FF692B-638A-730D-5A34-73FFBAC69A1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C23BC04-09C6-21F2-5AE7-04F76E7ACAFA}"/>
              </a:ext>
            </a:extLst>
          </p:cNvPr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7A687D18-D501-9D13-3C5F-1397F9873A40}"/>
                </a:ext>
              </a:extLst>
            </p:cNvPr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1723B051-CD10-4D25-0B5E-6689BC4F5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2F55CC5C-70FF-F0AF-8A74-904509FE3E1B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BA71E000-03EF-ED50-2521-333DA8498571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FC46D37D-37E1-2DC1-7F25-69083E511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A5D3D33A-01F4-9550-0C0D-B8021EA74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410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FDC4B-C8A8-DD9D-4CA0-A5B46476B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20CE4-C9D4-0F40-9EE0-2904632A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Objetivo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F621CE-FCBF-BA86-05BF-B1CDE262CCA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24C35220-64DD-D52A-4F56-08F97EB9C920}"/>
              </a:ext>
            </a:extLst>
          </p:cNvPr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711C0E42-A6F4-3EA2-8167-65B3A7004CD2}"/>
                </a:ext>
              </a:extLst>
            </p:cNvPr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43602855-7DCA-AFA5-A784-C333E87A1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D9785EA-528B-C73F-A8EC-CB0C83A0CF88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CBA2124B-FDF4-B933-961C-4C72FDF12859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CFC0795A-19D4-F59A-C8DA-A58B85DD6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720F6B32-1ABF-6220-BE1D-2E752F695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729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67EF3-2E42-469C-8C07-98366CBDC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1D489-8B8B-13AD-A7F8-812868CF6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Concepção da Proposta</a:t>
            </a: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769519-7D63-D769-3BB5-9F8C0622402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7D2CD8A-B738-01D8-0EE4-8193D593A3E8}"/>
              </a:ext>
            </a:extLst>
          </p:cNvPr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74A73586-9CD5-F87B-AC01-C1D4A6DFBE39}"/>
                </a:ext>
              </a:extLst>
            </p:cNvPr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1DC21F77-2B53-E7A3-9C15-2CB15C767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09F957C-F525-085B-9DAB-A8207F98E785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4A0BA890-F1E8-85EC-C9B2-462DBDD84B98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5682E945-DE9B-2230-C09E-92DE84689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EF8F2462-AA06-994E-FA40-D1A1ED5136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004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Benefícios</a:t>
            </a:r>
          </a:p>
        </p:txBody>
      </p:sp>
      <p:pic>
        <p:nvPicPr>
          <p:cNvPr id="4" name="Imagem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9" name="Agrupar 8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0" name="Retângulo 9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8715FFF-877C-F7E3-BF00-DCC390B608E5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446179D5-7E74-3D36-9798-41617AF408EB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7" name="Imagem 6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DC502E83-CA82-0E74-EEEC-C3B57F833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2578C881-1C01-6BA1-092B-BBD1E2987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45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Produto / Resultados / Entregas Relevantes do Projeto Orçado</a:t>
            </a:r>
          </a:p>
        </p:txBody>
      </p:sp>
      <p:pic>
        <p:nvPicPr>
          <p:cNvPr id="5" name="Imagem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10" name="Agrupar 9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1" name="Retângulo 10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2" name="Imagem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96EE2932-B210-A3F7-7605-9EE41D36FD33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FFB92DE-EC09-9F1C-BA6B-EA6B35F369EF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0433FA60-C499-70F3-D2D7-E77EDF3E5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99AB3D7-542E-4813-3076-8AE8D5E78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120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Análise de Maturidade (ISO 16290)</a:t>
            </a:r>
          </a:p>
        </p:txBody>
      </p:sp>
      <p:pic>
        <p:nvPicPr>
          <p:cNvPr id="6" name="Imagem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63" y="6087290"/>
            <a:ext cx="800969" cy="653911"/>
          </a:xfrm>
          <a:prstGeom prst="rect">
            <a:avLst/>
          </a:prstGeom>
        </p:spPr>
      </p:pic>
      <p:grpSp>
        <p:nvGrpSpPr>
          <p:cNvPr id="13" name="Agrupar 12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4" name="Retângulo 13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AA4791D-4F73-8704-107A-978A8F4F225E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62AE70F-B348-B565-66AF-CE03EBC6F4B8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88A90975-CDC5-E0A3-D07C-884834928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58EE23DE-65ED-BBB4-E488-E1A9C39AE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21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ＭＳ Ｐゴシック"/>
                <a:cs typeface="Arial"/>
              </a:rPr>
              <a:t>Requisitos do projeto</a:t>
            </a:r>
            <a:endParaRPr lang="pt-BR"/>
          </a:p>
        </p:txBody>
      </p:sp>
      <p:pic>
        <p:nvPicPr>
          <p:cNvPr id="7" name="Imagem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5" name="Agrupar 4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6" name="Retângulo 5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C8721F7-F38F-9E4C-B450-D19FA56F8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0474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ＭＳ Ｐゴシック"/>
                <a:cs typeface="Arial"/>
              </a:rPr>
              <a:t>Premissas </a:t>
            </a:r>
            <a:endParaRPr lang="pt-BR"/>
          </a:p>
        </p:txBody>
      </p:sp>
      <p:pic>
        <p:nvPicPr>
          <p:cNvPr id="7" name="Imagem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5" name="Agrupar 4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6" name="Retângulo 5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8" name="Imagem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59590C8B-BE1A-9EA1-7AB7-E6A201B47D6B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657476C-4FA4-6523-3E9A-337FD2D76E9A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Imagem 9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2AF3963B-B0BB-4636-4050-B25DC8BCE2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B4DE9A07-D86F-0024-FAF9-FE4292204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0493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ＭＳ Ｐゴシック"/>
                <a:cs typeface="Arial"/>
              </a:rPr>
              <a:t>Riscos do projeto</a:t>
            </a:r>
            <a:endParaRPr lang="pt-BR"/>
          </a:p>
        </p:txBody>
      </p:sp>
      <p:pic>
        <p:nvPicPr>
          <p:cNvPr id="7" name="Imagem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sp>
        <p:nvSpPr>
          <p:cNvPr id="13" name="Retângulo 12"/>
          <p:cNvSpPr/>
          <p:nvPr/>
        </p:nvSpPr>
        <p:spPr>
          <a:xfrm>
            <a:off x="2022274" y="6274917"/>
            <a:ext cx="7174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/>
              <a:t>* Os riscos deverão revistos e reavaliados ao longo de todo o projeto.</a:t>
            </a:r>
          </a:p>
        </p:txBody>
      </p:sp>
      <p:grpSp>
        <p:nvGrpSpPr>
          <p:cNvPr id="12" name="Agrupar 11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4" name="Retângulo 13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5" name="Imagem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57127C1-F970-AE19-8470-0907AEE58114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79517200-2A59-458A-FED9-29A108E2BA08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1A2929D2-25B6-E575-3765-C19B082DD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13454694-8E52-454D-221D-2D6AD8647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869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Exclusões do Escopo</a:t>
            </a:r>
          </a:p>
        </p:txBody>
      </p:sp>
      <p:pic>
        <p:nvPicPr>
          <p:cNvPr id="7" name="Imagem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5" name="Agrupar 4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8" name="Retângulo 7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1F0EC9C-C260-E737-EB52-9673CBDC8DFF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6039DDF-32F0-57CD-93FF-591ED1448D5C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Imagem 9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79001658-03DD-681A-32A3-8C8867141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B14160CF-454A-3114-2445-1CCFA5903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3651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5EF2-D492-EDB3-DB02-B5B20D55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8B787-EDE1-27CB-FC99-0B5E2DA73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>
                <a:ea typeface="Calibri Light"/>
                <a:cs typeface="Calibri Light"/>
              </a:rPr>
              <a:t>Planejamento / Cronograma</a:t>
            </a:r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BF3D6B-FDB5-FFCB-2310-66590EB95D7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E575275B-6F0C-1CFE-7EB5-47E41AC8AABB}"/>
              </a:ext>
            </a:extLst>
          </p:cNvPr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6D3FCA9A-ACA0-48D3-5062-8168FC70A25B}"/>
                </a:ext>
              </a:extLst>
            </p:cNvPr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0C6ADFE-70A1-67D6-169A-99DA03D74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4942960-542C-7997-F064-D5A068FFD27E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DD4AC252-FE7A-ADA0-B2B5-2119136A9E52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Imagem 9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78068997-6641-7B83-902C-AADA65EA0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B38D6A13-5ED1-EFA8-7712-C135E9140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0935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Entregas Principais</a:t>
            </a:r>
          </a:p>
        </p:txBody>
      </p:sp>
      <p:pic>
        <p:nvPicPr>
          <p:cNvPr id="7" name="Imagem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5" name="Agrupar 4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6" name="Retângulo 5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0DB2196-7805-CED5-7D18-F67CDB795FED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EC0518E-A014-F2C7-5C48-B769F1539874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Imagem 9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F7F12CC6-1605-3FF4-6C6D-9B626B4541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220B1F15-97D2-10DD-8123-EE710BCE1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720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Organograma</a:t>
            </a:r>
            <a:r>
              <a:rPr lang="en-US"/>
              <a:t> </a:t>
            </a:r>
            <a:r>
              <a:rPr lang="en-US" err="1"/>
              <a:t>Funcional</a:t>
            </a:r>
            <a:r>
              <a:rPr lang="en-US"/>
              <a:t> </a:t>
            </a:r>
            <a:r>
              <a:rPr lang="en-US">
                <a:solidFill>
                  <a:srgbClr val="FFFF00"/>
                </a:solidFill>
              </a:rPr>
              <a:t>(EXCLUSIVO E INTERNO AO COMITÊ SENAI CIMATEC)</a:t>
            </a:r>
            <a:endParaRPr lang="pt-BR"/>
          </a:p>
        </p:txBody>
      </p:sp>
      <p:pic>
        <p:nvPicPr>
          <p:cNvPr id="7" name="Imagem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8" name="Agrupar 7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10" name="Retângulo 9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Imagem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56D048C-B176-B8EF-8EA5-8FE54FC76886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D742D74-EA80-E85C-2C93-702AD53868E2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92CE3742-3CDA-5A3C-1720-F7869B9D5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E83249E6-04E3-7DEC-8A04-D04E4D845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353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Orçamento </a:t>
            </a:r>
            <a:r>
              <a:rPr lang="en-US">
                <a:solidFill>
                  <a:srgbClr val="FFFF00"/>
                </a:solidFill>
              </a:rPr>
              <a:t>(EXCLUSIVO E INTERNO AO COMITÊ SENAI CIMATEC)</a:t>
            </a:r>
            <a:endParaRPr lang="pt-BR"/>
          </a:p>
        </p:txBody>
      </p:sp>
      <p:pic>
        <p:nvPicPr>
          <p:cNvPr id="7" name="Imagem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5" name="Agrupar 4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6" name="Retângulo 5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98538C27-1B8B-F245-3604-D6552E1E8296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CA334A6-C6C6-E215-B318-45CE253EA553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Imagem 9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7E668D28-9757-5441-5A41-618E7BA8B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A3277ABA-6311-F804-E3E3-A101A9741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363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5B33A-0255-72C5-4160-4796C58E7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BA295-3697-4258-8E0C-8336E954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500">
                <a:ea typeface="Calibri Light"/>
                <a:cs typeface="Calibri Light"/>
              </a:rPr>
              <a:t>Forma de Financiamento </a:t>
            </a:r>
            <a:r>
              <a:rPr lang="pt-BR" sz="1600" b="0">
                <a:solidFill>
                  <a:srgbClr val="FFFF00"/>
                </a:solidFill>
                <a:ea typeface="Calibri Light"/>
                <a:cs typeface="Calibri Light"/>
              </a:rPr>
              <a:t>(</a:t>
            </a:r>
            <a:r>
              <a:rPr lang="pt-BR" sz="1800" b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Obrigatório o preenchimento deste slide, caso o projeto envolva MPME/</a:t>
            </a:r>
            <a:r>
              <a:rPr lang="pt-BR" sz="1800" b="0" i="1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Start-up </a:t>
            </a:r>
            <a:r>
              <a:rPr lang="pt-BR" sz="1800" b="0">
                <a:solidFill>
                  <a:srgbClr val="FFFF00"/>
                </a:solidFill>
                <a:latin typeface="Calibri"/>
                <a:ea typeface="Calibri"/>
                <a:cs typeface="Calibri"/>
              </a:rPr>
              <a:t>baiana e seja submetido a CBII)</a:t>
            </a:r>
            <a:endParaRPr lang="pt-BR" sz="1800" b="0">
              <a:latin typeface="Calibri"/>
              <a:ea typeface="Calibri"/>
              <a:cs typeface="Calibri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D3C095B-13BB-A083-5CD5-ADF32DBAFD1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9C056AAB-E065-90A0-573A-F029DC49AB55}"/>
              </a:ext>
            </a:extLst>
          </p:cNvPr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6947873D-AEDB-A47B-F168-E5C37E99EB90}"/>
                </a:ext>
              </a:extLst>
            </p:cNvPr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088CA2BA-581B-E90E-AABE-1D0A8EC02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6895020-193E-5601-9085-B71FE0C4196E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9B3DD88F-29BE-41B3-B862-E5EE8E72F140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Imagem 9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C372B5D8-3555-E4F5-74CB-1126A458D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3E84C983-39B9-DA58-212E-85F3209F7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486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E2FD5-A5A2-8D6D-84C1-42BED3A44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Acordo de Propriedade Intelectual </a:t>
            </a: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 Light"/>
                <a:ea typeface="ＭＳ Ｐゴシック" charset="-128"/>
                <a:cs typeface="Arial" panose="020B0604020202020204" pitchFamily="34" charset="0"/>
              </a:rPr>
              <a:t>(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Arial" panose="020B0604020202020204" pitchFamily="34" charset="0"/>
              </a:rPr>
              <a:t>Obrigatório o preenchimento deste slide, caso o projeto envolva MPME/</a:t>
            </a:r>
            <a:r>
              <a:rPr kumimoji="0" lang="pt-BR" sz="1800" b="0" i="1" u="none" strike="noStrike" kern="1200" cap="none" spc="0" normalizeH="0" baseline="0" noProof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Arial" panose="020B0604020202020204" pitchFamily="34" charset="0"/>
              </a:rPr>
              <a:t>Start-up</a:t>
            </a:r>
            <a:r>
              <a:rPr kumimoji="0" lang="pt-BR" sz="1800" b="0" i="1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Arial" panose="020B0604020202020204" pitchFamily="34" charset="0"/>
              </a:rPr>
              <a:t> 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-128"/>
                <a:cs typeface="Arial" panose="020B0604020202020204" pitchFamily="34" charset="0"/>
              </a:rPr>
              <a:t>baiana e seja submetido a CBII)</a:t>
            </a:r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03EFD67-D484-365C-0E1C-71B6B4B3BA55}"/>
              </a:ext>
            </a:extLst>
          </p:cNvPr>
          <p:cNvSpPr txBox="1"/>
          <p:nvPr/>
        </p:nvSpPr>
        <p:spPr>
          <a:xfrm>
            <a:off x="1371600" y="6087290"/>
            <a:ext cx="77731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pt-BR" sz="1800">
                <a:solidFill>
                  <a:srgbClr val="FF0000"/>
                </a:solidFill>
                <a:latin typeface="Calibri" panose="020F0502020204030204" pitchFamily="34" charset="0"/>
              </a:rPr>
              <a:t>Obrigatório o preenchimento deste slide, caso o projeto envolva MPME/</a:t>
            </a:r>
            <a:r>
              <a:rPr lang="pt-BR" sz="1800" i="1" err="1">
                <a:solidFill>
                  <a:srgbClr val="FF0000"/>
                </a:solidFill>
                <a:latin typeface="Calibri" panose="020F0502020204030204" pitchFamily="34" charset="0"/>
              </a:rPr>
              <a:t>Start-up</a:t>
            </a:r>
            <a:r>
              <a:rPr lang="pt-BR" sz="1800" i="1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pt-BR" sz="1800">
                <a:solidFill>
                  <a:srgbClr val="FF0000"/>
                </a:solidFill>
                <a:latin typeface="Calibri" panose="020F0502020204030204" pitchFamily="34" charset="0"/>
              </a:rPr>
              <a:t>baiana e seja submetido a CBII.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34AE5D-DBCF-3CE9-DADA-D4DAA7A608F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6" name="Agrupar 5">
            <a:extLst>
              <a:ext uri="{FF2B5EF4-FFF2-40B4-BE49-F238E27FC236}">
                <a16:creationId xmlns:a16="http://schemas.microsoft.com/office/drawing/2014/main" id="{B63EAFF5-A21B-944C-D0C1-3CC734FC4BF9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46B06A0-4557-D70C-4891-2EF81E86E51D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8" name="Imagem 7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B442BBAB-103F-8685-6523-F9C455F2D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050C2695-9AED-AF10-B151-B4385BB9F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4920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Comentários finais</a:t>
            </a:r>
          </a:p>
        </p:txBody>
      </p:sp>
      <p:pic>
        <p:nvPicPr>
          <p:cNvPr id="7" name="Imagem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7" y="6061166"/>
            <a:ext cx="770518" cy="796834"/>
          </a:xfrm>
          <a:prstGeom prst="rect">
            <a:avLst/>
          </a:prstGeom>
        </p:spPr>
      </p:pic>
      <p:grpSp>
        <p:nvGrpSpPr>
          <p:cNvPr id="5" name="Agrupar 4"/>
          <p:cNvGrpSpPr/>
          <p:nvPr/>
        </p:nvGrpSpPr>
        <p:grpSpPr>
          <a:xfrm>
            <a:off x="8543108" y="6143798"/>
            <a:ext cx="3381829" cy="714202"/>
            <a:chOff x="8543108" y="6143798"/>
            <a:chExt cx="3381829" cy="714202"/>
          </a:xfrm>
        </p:grpSpPr>
        <p:sp>
          <p:nvSpPr>
            <p:cNvPr id="8" name="Retângulo 7"/>
            <p:cNvSpPr/>
            <p:nvPr/>
          </p:nvSpPr>
          <p:spPr>
            <a:xfrm>
              <a:off x="8543108" y="6143798"/>
              <a:ext cx="3381829" cy="7142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Imagem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3449" y="6174327"/>
              <a:ext cx="2001488" cy="653143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7C31F00-3D2E-EADB-15DE-E8C255B692C5}"/>
              </a:ext>
            </a:extLst>
          </p:cNvPr>
          <p:cNvGrpSpPr/>
          <p:nvPr/>
        </p:nvGrpSpPr>
        <p:grpSpPr>
          <a:xfrm>
            <a:off x="9114020" y="6146998"/>
            <a:ext cx="3029375" cy="711001"/>
            <a:chOff x="9114020" y="6146998"/>
            <a:chExt cx="3029375" cy="711001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0812C09-3462-AC91-55B7-0E0A6777BCDC}"/>
                </a:ext>
              </a:extLst>
            </p:cNvPr>
            <p:cNvSpPr/>
            <p:nvPr/>
          </p:nvSpPr>
          <p:spPr>
            <a:xfrm>
              <a:off x="9114020" y="6174236"/>
              <a:ext cx="3029375" cy="6837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Imagem 9" descr="Uma imagem contendo objeto, relógio, placar&#10;&#10;Descrição gerada automaticamente">
              <a:extLst>
                <a:ext uri="{FF2B5EF4-FFF2-40B4-BE49-F238E27FC236}">
                  <a16:creationId xmlns:a16="http://schemas.microsoft.com/office/drawing/2014/main" id="{9E072A7C-3870-803C-43D9-F4E240A24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3247" y="6146998"/>
              <a:ext cx="2268551" cy="711001"/>
            </a:xfrm>
            <a:prstGeom prst="rect">
              <a:avLst/>
            </a:prstGeom>
          </p:spPr>
        </p:pic>
      </p:grp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5A6FCACF-FD53-C002-3E89-AACC04CFB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973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Obrigado!</a:t>
            </a:r>
            <a:endParaRPr lang="pt-BR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i="1"/>
              <a:t>Estamos à disposição para redimir dúvidas e aperfeiçoamentos que sejam necessários.</a:t>
            </a:r>
          </a:p>
        </p:txBody>
      </p:sp>
      <p:pic>
        <p:nvPicPr>
          <p:cNvPr id="6" name="Imagem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92" y="5886598"/>
            <a:ext cx="857480" cy="831273"/>
          </a:xfrm>
          <a:prstGeom prst="rect">
            <a:avLst/>
          </a:prstGeom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8DD2346F-9B6A-C789-82B9-D01A43D979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723" y="5794354"/>
            <a:ext cx="2765370" cy="8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693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_Collaboration_Space_Locked xmlns="48779366-838c-48f3-a492-5c55a9a38652" xsi:nil="true"/>
    <AppVersion xmlns="48779366-838c-48f3-a492-5c55a9a38652" xsi:nil="true"/>
    <Owner xmlns="48779366-838c-48f3-a492-5c55a9a38652">
      <UserInfo>
        <DisplayName/>
        <AccountId xsi:nil="true"/>
        <AccountType/>
      </UserInfo>
    </Owner>
    <Math_Settings xmlns="48779366-838c-48f3-a492-5c55a9a38652" xsi:nil="true"/>
    <FolderType xmlns="48779366-838c-48f3-a492-5c55a9a38652" xsi:nil="true"/>
    <Invited_Members xmlns="48779366-838c-48f3-a492-5c55a9a38652" xsi:nil="true"/>
    <TeamsChannelId xmlns="48779366-838c-48f3-a492-5c55a9a38652" xsi:nil="true"/>
    <Invited_Leaders xmlns="48779366-838c-48f3-a492-5c55a9a38652" xsi:nil="true"/>
    <lcf76f155ced4ddcb4097134ff3c332f xmlns="48779366-838c-48f3-a492-5c55a9a38652">
      <Terms xmlns="http://schemas.microsoft.com/office/infopath/2007/PartnerControls"/>
    </lcf76f155ced4ddcb4097134ff3c332f>
    <Has_Leaders_Only_SectionGroup xmlns="48779366-838c-48f3-a492-5c55a9a38652" xsi:nil="true"/>
    <DefaultSectionNames xmlns="48779366-838c-48f3-a492-5c55a9a38652" xsi:nil="true"/>
    <LMS_Mappings xmlns="48779366-838c-48f3-a492-5c55a9a38652" xsi:nil="true"/>
    <CultureName xmlns="48779366-838c-48f3-a492-5c55a9a38652" xsi:nil="true"/>
    <Leaders xmlns="48779366-838c-48f3-a492-5c55a9a38652">
      <UserInfo>
        <DisplayName/>
        <AccountId xsi:nil="true"/>
        <AccountType/>
      </UserInfo>
    </Leaders>
    <Distribution_Groups xmlns="48779366-838c-48f3-a492-5c55a9a38652" xsi:nil="true"/>
    <Self_Registration_Enabled xmlns="48779366-838c-48f3-a492-5c55a9a38652" xsi:nil="true"/>
    <IsNotebookLocked xmlns="48779366-838c-48f3-a492-5c55a9a38652" xsi:nil="true"/>
    <NotebookType xmlns="48779366-838c-48f3-a492-5c55a9a38652" xsi:nil="true"/>
    <TaxCatchAll xmlns="ada772a9-bad0-4e57-87e9-0e1fb2b57763" xsi:nil="true"/>
    <Templates xmlns="48779366-838c-48f3-a492-5c55a9a38652" xsi:nil="true"/>
    <Members xmlns="48779366-838c-48f3-a492-5c55a9a38652">
      <UserInfo>
        <DisplayName/>
        <AccountId xsi:nil="true"/>
        <AccountType/>
      </UserInfo>
    </Members>
    <Member_Groups xmlns="48779366-838c-48f3-a492-5c55a9a38652">
      <UserInfo>
        <DisplayName/>
        <AccountId xsi:nil="true"/>
        <AccountType/>
      </UserInfo>
    </Member_Group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4D2BBC35640ED448F0FFC4A016F2B2C" ma:contentTypeVersion="36" ma:contentTypeDescription="Crie um novo documento." ma:contentTypeScope="" ma:versionID="2acc87a43c5887657608225ff1136a99">
  <xsd:schema xmlns:xsd="http://www.w3.org/2001/XMLSchema" xmlns:xs="http://www.w3.org/2001/XMLSchema" xmlns:p="http://schemas.microsoft.com/office/2006/metadata/properties" xmlns:ns2="48779366-838c-48f3-a492-5c55a9a38652" xmlns:ns3="ada772a9-bad0-4e57-87e9-0e1fb2b57763" targetNamespace="http://schemas.microsoft.com/office/2006/metadata/properties" ma:root="true" ma:fieldsID="102625df67a3ec59089c42ec874c05ed" ns2:_="" ns3:_="">
    <xsd:import namespace="48779366-838c-48f3-a492-5c55a9a38652"/>
    <xsd:import namespace="ada772a9-bad0-4e57-87e9-0e1fb2b57763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79366-838c-48f3-a492-5c55a9a38652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0" nillable="true" ma:displayName="Tags" ma:internalName="MediaServiceAutoTags" ma:readOnly="true">
      <xsd:simpleType>
        <xsd:restriction base="dms:Text"/>
      </xsd:simpleType>
    </xsd:element>
    <xsd:element name="MediaServiceOCR" ma:index="3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38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4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4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a772a9-bad0-4e57-87e9-0e1fb2b57763" elementFormDefault="qualified">
    <xsd:import namespace="http://schemas.microsoft.com/office/2006/documentManagement/types"/>
    <xsd:import namespace="http://schemas.microsoft.com/office/infopath/2007/PartnerControls"/>
    <xsd:element name="SharedWithUsers" ma:index="3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39" nillable="true" ma:displayName="Taxonomy Catch All Column" ma:hidden="true" ma:list="{c31698b1-2922-408b-8a71-1650f939cc9d}" ma:internalName="TaxCatchAll" ma:showField="CatchAllData" ma:web="ada772a9-bad0-4e57-87e9-0e1fb2b577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30C62D-6D92-46AE-8605-1D74F56A061B}">
  <ds:schemaRefs>
    <ds:schemaRef ds:uri="http://schemas.microsoft.com/office/2006/documentManagement/types"/>
    <ds:schemaRef ds:uri="http://purl.org/dc/elements/1.1/"/>
    <ds:schemaRef ds:uri="http://purl.org/dc/dcmitype/"/>
    <ds:schemaRef ds:uri="http://www.w3.org/XML/1998/namespace"/>
    <ds:schemaRef ds:uri="ada772a9-bad0-4e57-87e9-0e1fb2b57763"/>
    <ds:schemaRef ds:uri="http://schemas.openxmlformats.org/package/2006/metadata/core-properties"/>
    <ds:schemaRef ds:uri="48779366-838c-48f3-a492-5c55a9a38652"/>
    <ds:schemaRef ds:uri="http://schemas.microsoft.com/office/2006/metadata/properties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29E0E2-9B8B-4124-91CC-7288A553DF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218923-9773-45F0-8C5B-CEC6D1F158C1}">
  <ds:schemaRefs>
    <ds:schemaRef ds:uri="48779366-838c-48f3-a492-5c55a9a38652"/>
    <ds:schemaRef ds:uri="ada772a9-bad0-4e57-87e9-0e1fb2b5776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2581</Words>
  <Application>Microsoft Office PowerPoint</Application>
  <PresentationFormat>Widescreen</PresentationFormat>
  <Paragraphs>258</Paragraphs>
  <Slides>23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4" baseType="lpstr">
      <vt:lpstr>Tema do Office</vt:lpstr>
      <vt:lpstr>Comitê de Orçamentação</vt:lpstr>
      <vt:lpstr>Projeto:</vt:lpstr>
      <vt:lpstr>Informação</vt:lpstr>
      <vt:lpstr>Dados do Demandante</vt:lpstr>
      <vt:lpstr>Organização interna no atendimento da proposta</vt:lpstr>
      <vt:lpstr>Problema</vt:lpstr>
      <vt:lpstr>Objetivo</vt:lpstr>
      <vt:lpstr>Concepção da Proposta</vt:lpstr>
      <vt:lpstr>Benefícios</vt:lpstr>
      <vt:lpstr>Produto / Resultados / Entregas Relevantes do Projeto Orçado</vt:lpstr>
      <vt:lpstr>Análise de Maturidade (ISO 16290)</vt:lpstr>
      <vt:lpstr>Requisitos do projeto</vt:lpstr>
      <vt:lpstr>Premissas </vt:lpstr>
      <vt:lpstr>Riscos do projeto</vt:lpstr>
      <vt:lpstr>Exclusões do Escopo</vt:lpstr>
      <vt:lpstr>Planejamento / Cronograma</vt:lpstr>
      <vt:lpstr>Entregas Principais</vt:lpstr>
      <vt:lpstr>Organograma Funcional (EXCLUSIVO E INTERNO AO COMITÊ SENAI CIMATEC)</vt:lpstr>
      <vt:lpstr>Orçamento (EXCLUSIVO E INTERNO AO COMITÊ SENAI CIMATEC)</vt:lpstr>
      <vt:lpstr>Forma de Financiamento (Obrigatório o preenchimento deste slide, caso o projeto envolva MPME/Start-up baiana e seja submetido a CBII)</vt:lpstr>
      <vt:lpstr>Acordo de Propriedade Intelectual (Obrigatório o preenchimento deste slide, caso o projeto envolva MPME/Start-up baiana e seja submetido a CBII)</vt:lpstr>
      <vt:lpstr>Comentários finais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Santa Quiteria Figueiredo Leite</dc:creator>
  <cp:lastModifiedBy>Camilla Lima Dantas e Carregosa</cp:lastModifiedBy>
  <cp:revision>62</cp:revision>
  <dcterms:created xsi:type="dcterms:W3CDTF">2017-03-22T17:59:00Z</dcterms:created>
  <dcterms:modified xsi:type="dcterms:W3CDTF">2026-06-30T12:55:13Z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0x01010074D2BBC35640ED448F0FFC4A016F2B2C</vt:lpwstr>
  </property>
  <property fmtid="{D5CDD505-2E9C-101B-9397-08002B2CF9AE}" pid="3" name="_dlc_DocIdItemGuid">
    <vt:lpwstr>65cd35ed-a956-4d22-99a5-0921fa13435d</vt:lpwstr>
  </property>
  <property fmtid="{D5CDD505-2E9C-101B-9397-08002B2CF9AE}" pid="4" name="MediaServiceImageTags">
    <vt:lpwstr/>
  </property>
</Properties>
</file>